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EMIPredict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Financial Risk Assessment Platform</a:t>
            </a:r>
          </a:p>
          <a:p/>
          <a:p>
            <a:r>
              <a:t>Machine Learning Project</a:t>
            </a:r>
          </a:p>
          <a:p>
            <a:r>
              <a:t>Submitted by: Sakshi Nawandhar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Build a financial risk assessment platform using machine learning for EMI prediction.</a:t>
            </a:r>
          </a:p>
          <a:p>
            <a:pPr>
              <a:spcAft>
                <a:spcPts val="1000"/>
              </a:spcAft>
              <a:defRPr sz="1800"/>
            </a:pPr>
            <a:r>
              <a:t>People may struggle to pay EMIs because of poor financial planning and inadequate risk assessment.</a:t>
            </a:r>
          </a:p>
          <a:p>
            <a:pPr>
              <a:spcAft>
                <a:spcPts val="1000"/>
              </a:spcAft>
              <a:defRPr sz="1800"/>
            </a:pPr>
            <a:r>
              <a:t>The project aims to provide data-driven insights to support better loan decisions.</a:t>
            </a:r>
          </a:p>
          <a:p>
            <a:pPr>
              <a:spcAft>
                <a:spcPts val="1000"/>
              </a:spcAft>
              <a:defRPr sz="1800"/>
            </a:pPr>
            <a:r>
              <a:t>The broader specification includes EMI eligibility classification, maximum EMI regression, MLflow tracking, and an interactive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Predict EMI eligibility using customer demographic, employment, financial, credit, and loan-related information.</a:t>
            </a:r>
          </a:p>
          <a:p>
            <a:pPr>
              <a:spcAft>
                <a:spcPts val="1000"/>
              </a:spcAft>
              <a:defRPr sz="1800"/>
            </a:pPr>
            <a:r>
              <a:t>Classify customers into three categories: Eligible, High_Risk, and Not_Eligible.</a:t>
            </a:r>
          </a:p>
          <a:p>
            <a:pPr>
              <a:spcAft>
                <a:spcPts val="1000"/>
              </a:spcAft>
              <a:defRPr sz="1800"/>
            </a:pPr>
            <a:r>
              <a:t>Build an end-to-end ML workflow from data cleaning and EDA to prediction and model saving.</a:t>
            </a:r>
          </a:p>
          <a:p>
            <a:pPr>
              <a:spcAft>
                <a:spcPts val="1000"/>
              </a:spcAft>
              <a:defRPr sz="1800"/>
            </a:pPr>
            <a:r>
              <a:t>Evaluate models using class-specific metrics rather than accuracy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Records: 404,800</a:t>
            </a:r>
          </a:p>
          <a:p>
            <a:pPr>
              <a:spcAft>
                <a:spcPts val="1000"/>
              </a:spcAft>
              <a:defRPr sz="1800"/>
            </a:pPr>
            <a:r>
              <a:t>Columns: 27</a:t>
            </a:r>
          </a:p>
          <a:p>
            <a:pPr>
              <a:spcAft>
                <a:spcPts val="1000"/>
              </a:spcAft>
              <a:defRPr sz="1800"/>
            </a:pPr>
            <a:r>
              <a:t>Target variable: emi_eligibility</a:t>
            </a:r>
          </a:p>
          <a:p>
            <a:pPr>
              <a:spcAft>
                <a:spcPts val="1000"/>
              </a:spcAft>
              <a:defRPr sz="1800"/>
            </a:pPr>
            <a:r>
              <a:t>Target classes: Eligible, High_Risk, Not_Eligible</a:t>
            </a:r>
          </a:p>
          <a:p>
            <a:pPr>
              <a:spcAft>
                <a:spcPts val="1000"/>
              </a:spcAft>
              <a:defRPr sz="1800"/>
            </a:pPr>
            <a:r>
              <a:t>Classification input features: 24</a:t>
            </a:r>
          </a:p>
          <a:p>
            <a:pPr>
              <a:spcAft>
                <a:spcPts val="1000"/>
              </a:spcAft>
              <a:defRPr sz="1800"/>
            </a:pPr>
            <a:r>
              <a:t>Training set: 323,840 records | Testing set: 80,960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Converted columns to appropriate numerical and categorical data types.</a:t>
            </a:r>
          </a:p>
          <a:p>
            <a:pPr>
              <a:spcAft>
                <a:spcPts val="1000"/>
              </a:spcAft>
              <a:defRPr sz="1800"/>
            </a:pPr>
            <a:r>
              <a:t>Handled missing values through appropriate imputation.</a:t>
            </a:r>
          </a:p>
          <a:p>
            <a:pPr>
              <a:spcAft>
                <a:spcPts val="1000"/>
              </a:spcAft>
              <a:defRPr sz="1800"/>
            </a:pPr>
            <a:r>
              <a:t>Checked and removed duplicate rows.</a:t>
            </a:r>
          </a:p>
          <a:p>
            <a:pPr>
              <a:spcAft>
                <a:spcPts val="1000"/>
              </a:spcAft>
              <a:defRPr sz="1800"/>
            </a:pPr>
            <a:r>
              <a:t>Performed numerical-value validation and credit-score quality checks.</a:t>
            </a:r>
          </a:p>
          <a:p>
            <a:pPr>
              <a:spcAft>
                <a:spcPts val="1000"/>
              </a:spcAft>
              <a:defRPr sz="1800"/>
            </a:pPr>
            <a:r>
              <a:t>Final cleaned dataset: 404,800 × 27.</a:t>
            </a:r>
          </a:p>
          <a:p>
            <a:pPr>
              <a:spcAft>
                <a:spcPts val="1000"/>
              </a:spcAft>
              <a:defRPr sz="1800"/>
            </a:pPr>
            <a:r>
              <a:t>Missing values after cleaning: 0 | Duplicate rows: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Gender: Male 60.02%, Female 39.98%.</a:t>
            </a:r>
          </a:p>
          <a:p>
            <a:pPr>
              <a:spcAft>
                <a:spcPts val="1000"/>
              </a:spcAft>
              <a:defRPr sz="1800"/>
            </a:pPr>
            <a:r>
              <a:t>Marital status: Married 76.05%, Single 23.95%.</a:t>
            </a:r>
          </a:p>
          <a:p>
            <a:pPr>
              <a:spcAft>
                <a:spcPts val="1000"/>
              </a:spcAft>
              <a:defRPr sz="1800"/>
            </a:pPr>
            <a:r>
              <a:t>Education: Graduate 45.31%, Post Graduate 24.78%, High School 15.00%, Professional 14.90%.</a:t>
            </a:r>
          </a:p>
          <a:p>
            <a:pPr>
              <a:spcAft>
                <a:spcPts val="1000"/>
              </a:spcAft>
              <a:defRPr sz="1800"/>
            </a:pPr>
            <a:r>
              <a:t>Target distribution: Not_Eligible 312,868; Eligible 74,444; High_Risk 17,488.</a:t>
            </a:r>
          </a:p>
          <a:p>
            <a:pPr>
              <a:spcAft>
                <a:spcPts val="1000"/>
              </a:spcAft>
              <a:defRPr sz="1800"/>
            </a:pPr>
            <a:r>
              <a:t>Eligible customers generally showed higher salary, credit score, bank balance, and emergency fund.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Important 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Existing loans strongly affect eligibility distribution.</a:t>
            </a:r>
          </a:p>
          <a:p>
            <a:pPr>
              <a:spcAft>
                <a:spcPts val="1000"/>
              </a:spcAft>
              <a:defRPr sz="1800"/>
            </a:pPr>
            <a:r>
              <a:t>Without existing loans: 25.78% Eligible and 68.61% Not_Eligible.</a:t>
            </a:r>
          </a:p>
          <a:p>
            <a:pPr>
              <a:spcAft>
                <a:spcPts val="1000"/>
              </a:spcAft>
              <a:defRPr sz="1800"/>
            </a:pPr>
            <a:r>
              <a:t>With existing loans: 7.27% Eligible and 90.35% Not_Eligible.</a:t>
            </a:r>
          </a:p>
          <a:p>
            <a:pPr>
              <a:spcAft>
                <a:spcPts val="1000"/>
              </a:spcAft>
              <a:defRPr sz="1800"/>
            </a:pPr>
            <a:r>
              <a:t>Mean monthly salary: Eligible ₹78,860.94 vs Not_Eligible ₹54,257.63.</a:t>
            </a:r>
          </a:p>
          <a:p>
            <a:pPr>
              <a:spcAft>
                <a:spcPts val="1000"/>
              </a:spcAft>
              <a:defRPr sz="1800"/>
            </a:pPr>
            <a:r>
              <a:t>Mean credit score: Eligible 725.17 vs Not_Eligible 693.65.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Feature Engineering &amp;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24 input features were selected for classification.</a:t>
            </a:r>
          </a:p>
          <a:p>
            <a:pPr>
              <a:spcAft>
                <a:spcPts val="1000"/>
              </a:spcAft>
              <a:defRPr sz="1800"/>
            </a:pPr>
            <a:r>
              <a:t>Categorical features: 8</a:t>
            </a:r>
          </a:p>
          <a:p>
            <a:pPr>
              <a:spcAft>
                <a:spcPts val="1000"/>
              </a:spcAft>
              <a:defRPr sz="1800"/>
            </a:pPr>
            <a:r>
              <a:t>Numerical features: 16</a:t>
            </a:r>
          </a:p>
          <a:p>
            <a:pPr>
              <a:spcAft>
                <a:spcPts val="1000"/>
              </a:spcAft>
              <a:defRPr sz="1800"/>
            </a:pPr>
            <a:r>
              <a:t>Categorical variables were one-hot encoded.</a:t>
            </a:r>
          </a:p>
          <a:p>
            <a:pPr>
              <a:spcAft>
                <a:spcPts val="1000"/>
              </a:spcAft>
              <a:defRPr sz="1800"/>
            </a:pPr>
            <a:r>
              <a:t>Numerical variables were standardized using scaling.</a:t>
            </a:r>
          </a:p>
          <a:p>
            <a:pPr>
              <a:spcAft>
                <a:spcPts val="1000"/>
              </a:spcAft>
              <a:defRPr sz="1800"/>
            </a:pPr>
            <a:r>
              <a:t>Transformed feature matrix: 42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Logistic Regression</a:t>
            </a:r>
          </a:p>
          <a:p>
            <a:pPr>
              <a:spcAft>
                <a:spcPts val="1000"/>
              </a:spcAft>
              <a:defRPr sz="1800"/>
            </a:pPr>
            <a:r>
              <a:t>Random Forest</a:t>
            </a:r>
          </a:p>
          <a:p>
            <a:pPr>
              <a:spcAft>
                <a:spcPts val="1000"/>
              </a:spcAft>
              <a:defRPr sz="1800"/>
            </a:pPr>
            <a:r>
              <a:t>Balanced Random Forest</a:t>
            </a:r>
          </a:p>
          <a:p>
            <a:pPr>
              <a:spcAft>
                <a:spcPts val="1000"/>
              </a:spcAft>
              <a:defRPr sz="1800"/>
            </a:pPr>
            <a:r>
              <a:t>XGBoost was considered but was not installed in the working environment.</a:t>
            </a:r>
          </a:p>
          <a:p>
            <a:pPr>
              <a:spcAft>
                <a:spcPts val="1000"/>
              </a:spcAft>
              <a:defRPr sz="1800"/>
            </a:pPr>
            <a:r>
              <a:t>Models were evaluated on the same test set using accuracy, precision, recall, F1-score and ROC-AUC.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High_Risk Recall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63.10%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65.48%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1.34%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Balanced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61.32%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1.34%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Final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Final selected model: Logistic Regression for the documented final classification workflow.</a:t>
            </a:r>
          </a:p>
          <a:p>
            <a:pPr>
              <a:spcAft>
                <a:spcPts val="1000"/>
              </a:spcAft>
              <a:defRPr sz="1800"/>
            </a:pPr>
            <a:r>
              <a:t>Accuracy: 78.67%</a:t>
            </a:r>
          </a:p>
          <a:p>
            <a:pPr>
              <a:spcAft>
                <a:spcPts val="1000"/>
              </a:spcAft>
              <a:defRPr sz="1800"/>
            </a:pPr>
            <a:r>
              <a:t>Macro Precision: 64.91%</a:t>
            </a:r>
          </a:p>
          <a:p>
            <a:pPr>
              <a:spcAft>
                <a:spcPts val="1000"/>
              </a:spcAft>
              <a:defRPr sz="1800"/>
            </a:pPr>
            <a:r>
              <a:t>Macro Recall: 73.19%</a:t>
            </a:r>
          </a:p>
          <a:p>
            <a:pPr>
              <a:spcAft>
                <a:spcPts val="1000"/>
              </a:spcAft>
              <a:defRPr sz="1800"/>
            </a:pPr>
            <a:r>
              <a:t>Macro F1: 63.10%</a:t>
            </a:r>
          </a:p>
          <a:p>
            <a:pPr>
              <a:spcAft>
                <a:spcPts val="1000"/>
              </a:spcAft>
              <a:defRPr sz="1800"/>
            </a:pPr>
            <a:r>
              <a:t>High_Risk Recall: 65.48%</a:t>
            </a:r>
          </a:p>
          <a:p>
            <a:pPr>
              <a:spcAft>
                <a:spcPts val="1000"/>
              </a:spcAft>
              <a:defRPr sz="1800"/>
            </a:pPr>
            <a:r>
              <a:t>High_Risk F1: 23.02%</a:t>
            </a:r>
          </a:p>
          <a:p>
            <a:pPr>
              <a:spcAft>
                <a:spcPts val="1000"/>
              </a:spcAft>
              <a:defRPr sz="1800"/>
            </a:pPr>
            <a:r>
              <a:t>Multiclass ROC-AUC: 0.9237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Why Accuracy Alone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Random Forest achieved 91.65% accuracy, but High_Risk recall was only 1.34%.</a:t>
            </a:r>
          </a:p>
          <a:p>
            <a:pPr>
              <a:spcAft>
                <a:spcPts val="1000"/>
              </a:spcAft>
              <a:defRPr sz="1800"/>
            </a:pPr>
            <a:r>
              <a:t>Balanced Random Forest achieved 91.73% accuracy, but High_Risk recall remained 1.34%.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had lower overall accuracy but detected 65.48% of High_Risk cases.</a:t>
            </a:r>
          </a:p>
          <a:p>
            <a:pPr>
              <a:spcAft>
                <a:spcPts val="1000"/>
              </a:spcAft>
              <a:defRPr sz="1800"/>
            </a:pPr>
            <a:r>
              <a:t>For financial risk assessment, minority-class performance is important.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Hyperparameter Tuning &amp; 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Logistic Regression tuning used 3-fold cross-validation.</a:t>
            </a:r>
          </a:p>
          <a:p>
            <a:pPr>
              <a:spcAft>
                <a:spcPts val="1000"/>
              </a:spcAft>
              <a:defRPr sz="1800"/>
            </a:pPr>
            <a:r>
              <a:t>Best parameter: C = 1.</a:t>
            </a:r>
          </a:p>
          <a:p>
            <a:pPr>
              <a:spcAft>
                <a:spcPts val="1000"/>
              </a:spcAft>
              <a:defRPr sz="1800"/>
            </a:pPr>
            <a:r>
              <a:t>Best cross-validation Macro F1: 0.6294.</a:t>
            </a:r>
          </a:p>
          <a:p>
            <a:pPr>
              <a:spcAft>
                <a:spcPts val="1000"/>
              </a:spcAft>
              <a:defRPr sz="1800"/>
            </a:pPr>
            <a:r>
              <a:t>Top influential features included requested_amount, requested_tenure, house_type, college_fees, existing_loans, school_fees, current_emi_amount, bank_balance, and monthly_salary.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New Customer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Prediction: Not_Eligible</a:t>
            </a:r>
          </a:p>
          <a:p>
            <a:pPr>
              <a:spcAft>
                <a:spcPts val="1000"/>
              </a:spcAft>
              <a:defRPr sz="1800"/>
            </a:pPr>
            <a:r>
              <a:t>Reported confidence: 100.00%</a:t>
            </a:r>
          </a:p>
          <a:p>
            <a:pPr>
              <a:spcAft>
                <a:spcPts val="1000"/>
              </a:spcAft>
              <a:defRPr sz="1800"/>
            </a:pPr>
            <a:r>
              <a:t>Eligible probability: 0.0000000000</a:t>
            </a:r>
          </a:p>
          <a:p>
            <a:pPr>
              <a:spcAft>
                <a:spcPts val="1000"/>
              </a:spcAft>
              <a:defRPr sz="1800"/>
            </a:pPr>
            <a:r>
              <a:t>High_Risk probability: 0.0000000000</a:t>
            </a:r>
          </a:p>
          <a:p>
            <a:pPr>
              <a:spcAft>
                <a:spcPts val="1000"/>
              </a:spcAft>
              <a:defRPr sz="1800"/>
            </a:pPr>
            <a:r>
              <a:t>Not_Eligible probability: 1.0000000000</a:t>
            </a:r>
          </a:p>
          <a:p>
            <a:pPr>
              <a:spcAft>
                <a:spcPts val="1000"/>
              </a:spcAft>
              <a:defRPr sz="1800"/>
            </a:pPr>
            <a:r>
              <a:t>This probability is specific to the supplied customer input.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Model Saving &amp; Reusability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Final model saved successfully.</a:t>
            </a:r>
          </a:p>
          <a:p>
            <a:pPr>
              <a:spcAft>
                <a:spcPts val="1000"/>
              </a:spcAft>
              <a:defRPr sz="1800"/>
            </a:pPr>
            <a:r>
              <a:t>Preprocessing pipeline saved successfully.</a:t>
            </a:r>
          </a:p>
          <a:p>
            <a:pPr>
              <a:spcAft>
                <a:spcPts val="1000"/>
              </a:spcAft>
              <a:defRPr sz="1800"/>
            </a:pPr>
            <a:r>
              <a:t>Saved components can be reused for future customer predictions.</a:t>
            </a:r>
          </a:p>
          <a:p>
            <a:pPr>
              <a:spcAft>
                <a:spcPts val="1000"/>
              </a:spcAft>
              <a:defRPr sz="1800"/>
            </a:pPr>
            <a:r>
              <a:t>The workflow is therefore ready for a deployment-oriented next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EMI eligibility is highly imbalanced toward Not_Eligible.</a:t>
            </a:r>
          </a:p>
          <a:p>
            <a:pPr>
              <a:spcAft>
                <a:spcPts val="1000"/>
              </a:spcAft>
              <a:defRPr sz="1800"/>
            </a:pPr>
            <a:r>
              <a:t>Higher salary, credit score, bank balance and emergency fund are associated with better eligibility outcomes in the analyzed data.</a:t>
            </a:r>
          </a:p>
          <a:p>
            <a:pPr>
              <a:spcAft>
                <a:spcPts val="1000"/>
              </a:spcAft>
              <a:defRPr sz="1800"/>
            </a:pPr>
            <a:r>
              <a:t>Existing loans are associated with a much larger Not_Eligible proportion.</a:t>
            </a:r>
          </a:p>
          <a:p>
            <a:pPr>
              <a:spcAft>
                <a:spcPts val="1000"/>
              </a:spcAft>
              <a:defRPr sz="1800"/>
            </a:pPr>
            <a:r>
              <a:t>Risk-sensitive evaluation should consider recall and F1 for High_Risk customers.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provided the strongest High_Risk recall among the evaluated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Current implementation focuses on the EMI eligibility classification task.</a:t>
            </a:r>
          </a:p>
          <a:p>
            <a:pPr>
              <a:spcAft>
                <a:spcPts val="1000"/>
              </a:spcAft>
              <a:defRPr sz="1800"/>
            </a:pPr>
            <a:r>
              <a:t>Future scope: implement maximum EMI regression models.</a:t>
            </a:r>
          </a:p>
          <a:p>
            <a:pPr>
              <a:spcAft>
                <a:spcPts val="1000"/>
              </a:spcAft>
              <a:defRPr sz="1800"/>
            </a:pPr>
            <a:r>
              <a:t>Add MLflow experiment tracking and model registry.</a:t>
            </a:r>
          </a:p>
          <a:p>
            <a:pPr>
              <a:spcAft>
                <a:spcPts val="1000"/>
              </a:spcAft>
              <a:defRPr sz="1800"/>
            </a:pPr>
            <a:r>
              <a:t>Build the Streamlit interactive application.</a:t>
            </a:r>
          </a:p>
          <a:p>
            <a:pPr>
              <a:spcAft>
                <a:spcPts val="1000"/>
              </a:spcAft>
              <a:defRPr sz="1800"/>
            </a:pPr>
            <a:r>
              <a:t>Evaluate additional models such as XGBoost after installing the required package.</a:t>
            </a:r>
          </a:p>
          <a:p>
            <a:pPr>
              <a:spcAft>
                <a:spcPts val="1000"/>
              </a:spcAft>
              <a:defRPr sz="1800"/>
            </a:pPr>
            <a:r>
              <a:t>Deploy the completed platform to the cloud.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EMIPredict AI demonstrates an end-to-end machine learning workflow for EMI eligibility assessment.</a:t>
            </a:r>
          </a:p>
          <a:p>
            <a:pPr>
              <a:spcAft>
                <a:spcPts val="1000"/>
              </a:spcAft>
              <a:defRPr sz="1800"/>
            </a:pPr>
            <a:r>
              <a:t>404,800 records were cleaned, analyzed, transformed, and used for model development.</a:t>
            </a:r>
          </a:p>
          <a:p>
            <a:pPr>
              <a:spcAft>
                <a:spcPts val="1000"/>
              </a:spcAft>
              <a:defRPr sz="1800"/>
            </a:pPr>
            <a:r>
              <a:t>Multiple classification models were compared using class-sensitive metrics.</a:t>
            </a:r>
          </a:p>
          <a:p>
            <a:pPr>
              <a:spcAft>
                <a:spcPts val="1000"/>
              </a:spcAft>
              <a:defRPr sz="1800"/>
            </a:pPr>
            <a:r>
              <a:t>Logistic Regression achieved 65.48% High_Risk recall and 0.9237 multiclass ROC-AUC.</a:t>
            </a:r>
          </a:p>
          <a:p>
            <a:pPr>
              <a:spcAft>
                <a:spcPts val="1000"/>
              </a:spcAft>
              <a:defRPr sz="1800"/>
            </a:pPr>
            <a:r>
              <a:t>The project establishes a foundation for a broader intelligent financial risk assessment platform.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Thank You!</a:t>
            </a:r>
          </a:p>
          <a:p>
            <a:pPr algn="ctr">
              <a:defRPr sz="1600"/>
            </a:pPr>
            <a:r>
              <a:t>EMIPredict AI - Intelligent Financial Risk Assessment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